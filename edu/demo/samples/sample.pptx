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PingFang SC"/>
              </a:defRPr>
            </a:pPr>
            <a:r>
              <a:t>Facebook Aura (Muse) 核心提炼与工程化沉淀</a:t>
            </a:r>
          </a:p>
          <a:p>
            <a:pPr>
              <a:defRPr sz="2000">
                <a:solidFill>
                  <a:srgbClr val="90CDF4"/>
                </a:solidFill>
                <a:latin typeface="Songti SC"/>
              </a:defRPr>
            </a:pPr>
            <a:r>
              <a:t>全格式离线文档引擎 · noVNC 远程桌面 · 跨端 Bridge 抹平技术</a:t>
            </a:r>
          </a:p>
          <a:p>
            <a:br/>
            <a:pPr>
              <a:defRPr sz="1400">
                <a:solidFill>
                  <a:srgbClr val="CBD5E1"/>
                </a:solidFill>
                <a:latin typeface="PingFang SC"/>
              </a:defRPr>
            </a:pPr>
            <a:r>
              <a:t>交付物与验收报告 · 2026 企业级高可用多端实践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65D"/>
                </a:solidFill>
                <a:latin typeface="PingFang SC"/>
              </a:defRPr>
            </a:pPr>
            <a:r>
              <a:t>端到端三层混合分工体系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3200400" cy="4114800"/>
          </a:xfrm>
          <a:prstGeom prst="roundRect">
            <a:avLst/>
          </a:prstGeom>
          <a:solidFill>
            <a:srgbClr val="F7FAFC"/>
          </a:solidFill>
          <a:ln w="254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2B6CB0"/>
                </a:solidFill>
                <a:latin typeface="PingFang SC"/>
              </a:defRPr>
            </a:pPr>
            <a:br/>
            <a:r>
              <a:t>原生 Native 骨架</a:t>
            </a:r>
          </a:p>
          <a:p>
            <a:pPr>
              <a:defRPr sz="1300" b="1">
                <a:solidFill>
                  <a:srgbClr val="718096"/>
                </a:solidFill>
                <a:latin typeface="PingFang SC"/>
              </a:defRPr>
            </a:pPr>
            <a:r>
              <a:t>Jetpack Compose + Tigon 网络</a:t>
            </a:r>
            <a:br/>
          </a:p>
          <a:p>
            <a:pPr>
              <a:defRPr sz="1300">
                <a:solidFill>
                  <a:srgbClr val="2D3748"/>
                </a:solidFill>
                <a:latin typeface="Songti SC"/>
              </a:defRPr>
            </a:pPr>
            <a:r>
              <a:t>处理登录认证、安全存储、Tigon 长连接握手并把持硬件输入焦点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80560" y="1828800"/>
            <a:ext cx="3200400" cy="4114800"/>
          </a:xfrm>
          <a:prstGeom prst="roundRect">
            <a:avLst/>
          </a:prstGeom>
          <a:solidFill>
            <a:srgbClr val="F7FAFC"/>
          </a:solidFill>
          <a:ln w="25400">
            <a:solidFill>
              <a:srgbClr val="319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19795"/>
                </a:solidFill>
                <a:latin typeface="PingFang SC"/>
              </a:defRPr>
            </a:pPr>
            <a:br/>
            <a:r>
              <a:t>Bloks 动态组件树</a:t>
            </a:r>
          </a:p>
          <a:p>
            <a:pPr>
              <a:defRPr sz="1300" b="1">
                <a:solidFill>
                  <a:srgbClr val="718096"/>
                </a:solidFill>
                <a:latin typeface="PingFang SC"/>
              </a:defRPr>
            </a:pPr>
            <a:r>
              <a:t>Meta 声明式服务端下发</a:t>
            </a:r>
            <a:br/>
          </a:p>
          <a:p>
            <a:pPr>
              <a:defRPr sz="1300">
                <a:solidFill>
                  <a:srgbClr val="2D3748"/>
                </a:solidFill>
                <a:latin typeface="Songti SC"/>
              </a:defRPr>
            </a:pPr>
            <a:r>
              <a:t>构建动态 AI 对话卡片、设置面板，实现零发版极速 UI 迭代更新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828800"/>
            <a:ext cx="3200400" cy="4114800"/>
          </a:xfrm>
          <a:prstGeom prst="roundRect">
            <a:avLst/>
          </a:prstGeom>
          <a:solidFill>
            <a:srgbClr val="F7FAFC"/>
          </a:solidFill>
          <a:ln w="25400">
            <a:solidFill>
              <a:srgbClr val="805A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805AD5"/>
                </a:solidFill>
                <a:latin typeface="PingFang SC"/>
              </a:defRPr>
            </a:pPr>
            <a:br/>
            <a:r>
              <a:t>离线全格式 WebView</a:t>
            </a:r>
          </a:p>
          <a:p>
            <a:pPr>
              <a:defRPr sz="1300" b="1">
                <a:solidFill>
                  <a:srgbClr val="718096"/>
                </a:solidFill>
                <a:latin typeface="PingFang SC"/>
              </a:defRPr>
            </a:pPr>
            <a:r>
              <a:t>Docx/Sheet/PPT/PDF/VNC</a:t>
            </a:r>
            <a:br/>
          </a:p>
          <a:p>
            <a:pPr>
              <a:defRPr sz="1300">
                <a:solidFill>
                  <a:srgbClr val="2D3748"/>
                </a:solidFill>
                <a:latin typeface="Songti SC"/>
              </a:defRPr>
            </a:pPr>
            <a:r>
              <a:t>本地完全离线排版，不依赖外部三方解析服务，安全可信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